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55489F2-EFDD-4273-067E-487AD0C2A43B}">
          <p14:sldIdLst>
            <p14:sldId id="256"/>
            <p14:sldId id="257"/>
            <p14:sldId id="258"/>
          </p14:sldIdLst>
        </p14:section>
        <p14:section name="The Scenario and Introduction" id="{37ED1799-F0D8-B9F9-ABD2-2B86911C7B80}">
          <p14:sldIdLst>
            <p14:sldId id="259"/>
            <p14:sldId id="260"/>
            <p14:sldId id="261"/>
          </p14:sldIdLst>
        </p14:section>
        <p14:section name="The Solution" id="{75FE85F7-1AB5-38FB-3B78-7AA8E63908ED}">
          <p14:sldIdLst>
            <p14:sldId id="262"/>
            <p14:sldId id="263"/>
          </p14:sldIdLst>
        </p14:section>
        <p14:section name="Business Rules" id="{C3B75E9F-E7B4-183E-1677-2E3BC3C59F58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Database Normalization" id="{F1369D65-0D1C-5F00-D454-C9FC1307369F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ERD Phase" id="{AE69D1C0-D8A7-9991-51C6-0717E4C1900A}">
          <p14:sldIdLst>
            <p14:sldId id="281"/>
            <p14:sldId id="282"/>
            <p14:sldId id="283"/>
          </p14:sldIdLst>
        </p14:section>
        <p14:section name="SQL Code" id="{988747B0-611F-3E3A-3D1A-85F0334D86CE}">
          <p14:sldIdLst>
            <p14:sldId id="284"/>
            <p14:sldId id="285"/>
            <p14:sldId id="286"/>
          </p14:sldIdLst>
        </p14:section>
        <p14:section name="SQL Query Results" id="{EBE31CF9-0B22-1630-7B10-AEC50445C826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Conclusion" id="{EB891BCF-E7B1-4B8D-3227-3BA1C58C23CC}">
          <p14:sldIdLst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60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748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6118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580"/>
                </a:solidFill>
              </a:rPr>
              <a:t>G14 Healthcare Facility Database  |  Group 14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583055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G14 Hospital Database Management System</a:t>
            </a:r>
            <a:endParaRPr lang="en-US" sz="4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611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 smtClean="0">
                <a:solidFill>
                  <a:schemeClr val="bg2"/>
                </a:solidFill>
              </a:rPr>
              <a:t>Faculty: Applied and Computer Sciences </a:t>
            </a:r>
          </a:p>
          <a:p>
            <a:pPr marL="0" indent="0" algn="l">
              <a:buNone/>
            </a:pPr>
            <a:r>
              <a:rPr lang="en-US" dirty="0" smtClean="0"/>
              <a:t>Department: Computer Sciences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2"/>
                </a:solidFill>
              </a:rPr>
              <a:t>Subject: Information System 1.2</a:t>
            </a:r>
          </a:p>
          <a:p>
            <a:pPr marL="0" indent="0" algn="l">
              <a:buNone/>
            </a:pPr>
            <a:r>
              <a:rPr lang="en-US" dirty="0" smtClean="0"/>
              <a:t>Subject Code: AIITY1A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2"/>
                </a:solidFill>
              </a:rPr>
              <a:t>Lecturer: Ms. N. Moyo</a:t>
            </a:r>
          </a:p>
          <a:p>
            <a:pPr marL="0" indent="0" algn="l">
              <a:buNone/>
            </a:pPr>
            <a:r>
              <a:rPr lang="en-US" dirty="0" smtClean="0"/>
              <a:t>Group: 14</a:t>
            </a:r>
          </a:p>
          <a:p>
            <a:pPr marL="0" indent="0" algn="l">
              <a:buNone/>
            </a:pPr>
            <a:r>
              <a:rPr lang="en-US" sz="2000" dirty="0" smtClean="0"/>
              <a:t>Assessment 3: Project Plan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240" y="2383155"/>
            <a:ext cx="4823460" cy="48234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Group 14</a:t>
            </a:r>
            <a:endParaRPr lang="en-US" sz="3400" dirty="0"/>
          </a:p>
        </p:txBody>
      </p:sp>
      <p:sp>
        <p:nvSpPr>
          <p:cNvPr id="3" name="Member"/>
          <p:cNvSpPr/>
          <p:nvPr/>
        </p:nvSpPr>
        <p:spPr>
          <a:xfrm>
            <a:off x="548640" y="1371600"/>
            <a:ext cx="5440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ember number"/>
          <p:cNvSpPr/>
          <p:nvPr/>
        </p:nvSpPr>
        <p:spPr>
          <a:xfrm>
            <a:off x="685800" y="14813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8132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Lefalahae Modjadji</a:t>
            </a:r>
            <a:endParaRPr lang="en-US" sz="1800" dirty="0"/>
          </a:p>
        </p:txBody>
      </p:sp>
      <p:sp>
        <p:nvSpPr>
          <p:cNvPr id="7" name="Member"/>
          <p:cNvSpPr/>
          <p:nvPr/>
        </p:nvSpPr>
        <p:spPr>
          <a:xfrm>
            <a:off x="6172200" y="1371600"/>
            <a:ext cx="5440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ember number"/>
          <p:cNvSpPr/>
          <p:nvPr/>
        </p:nvSpPr>
        <p:spPr>
          <a:xfrm>
            <a:off x="6309360" y="14813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48132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Siyabonga Nkosi</a:t>
            </a:r>
            <a:endParaRPr lang="en-US" sz="1800" dirty="0"/>
          </a:p>
        </p:txBody>
      </p:sp>
      <p:sp>
        <p:nvSpPr>
          <p:cNvPr id="11" name="Member"/>
          <p:cNvSpPr/>
          <p:nvPr/>
        </p:nvSpPr>
        <p:spPr>
          <a:xfrm>
            <a:off x="548640" y="2148840"/>
            <a:ext cx="5440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ember number"/>
          <p:cNvSpPr/>
          <p:nvPr/>
        </p:nvSpPr>
        <p:spPr>
          <a:xfrm>
            <a:off x="685800" y="22585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25856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Navelo Harvey Maluleke</a:t>
            </a:r>
            <a:endParaRPr lang="en-US" sz="1800" dirty="0"/>
          </a:p>
        </p:txBody>
      </p:sp>
      <p:sp>
        <p:nvSpPr>
          <p:cNvPr id="15" name="Member"/>
          <p:cNvSpPr/>
          <p:nvPr/>
        </p:nvSpPr>
        <p:spPr>
          <a:xfrm>
            <a:off x="6172200" y="2148840"/>
            <a:ext cx="5440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Member number"/>
          <p:cNvSpPr/>
          <p:nvPr/>
        </p:nvSpPr>
        <p:spPr>
          <a:xfrm>
            <a:off x="6309360" y="22585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25856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Oratile Tyamzashe</a:t>
            </a:r>
            <a:endParaRPr lang="en-US" sz="1800" dirty="0"/>
          </a:p>
        </p:txBody>
      </p:sp>
      <p:sp>
        <p:nvSpPr>
          <p:cNvPr id="19" name="Member"/>
          <p:cNvSpPr/>
          <p:nvPr/>
        </p:nvSpPr>
        <p:spPr>
          <a:xfrm>
            <a:off x="548640" y="2926080"/>
            <a:ext cx="5440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Member number"/>
          <p:cNvSpPr/>
          <p:nvPr/>
        </p:nvSpPr>
        <p:spPr>
          <a:xfrm>
            <a:off x="685800" y="30358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03580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Hlulani Maluleke</a:t>
            </a:r>
            <a:endParaRPr lang="en-US" sz="1800" dirty="0"/>
          </a:p>
        </p:txBody>
      </p:sp>
      <p:sp>
        <p:nvSpPr>
          <p:cNvPr id="23" name="Member"/>
          <p:cNvSpPr/>
          <p:nvPr/>
        </p:nvSpPr>
        <p:spPr>
          <a:xfrm>
            <a:off x="6172200" y="2926080"/>
            <a:ext cx="5440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Member number"/>
          <p:cNvSpPr/>
          <p:nvPr/>
        </p:nvSpPr>
        <p:spPr>
          <a:xfrm>
            <a:off x="6309360" y="30358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03580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Tamiah Vitomi Mawila</a:t>
            </a:r>
            <a:endParaRPr lang="en-US" sz="1800" dirty="0"/>
          </a:p>
        </p:txBody>
      </p:sp>
      <p:sp>
        <p:nvSpPr>
          <p:cNvPr id="27" name="Member"/>
          <p:cNvSpPr/>
          <p:nvPr/>
        </p:nvSpPr>
        <p:spPr>
          <a:xfrm>
            <a:off x="548640" y="3703320"/>
            <a:ext cx="5440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Member number"/>
          <p:cNvSpPr/>
          <p:nvPr/>
        </p:nvSpPr>
        <p:spPr>
          <a:xfrm>
            <a:off x="685800" y="38130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38130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Mikateko Mhlarhi</a:t>
            </a:r>
            <a:endParaRPr lang="en-US" sz="1800" dirty="0"/>
          </a:p>
        </p:txBody>
      </p:sp>
      <p:sp>
        <p:nvSpPr>
          <p:cNvPr id="31" name="Member"/>
          <p:cNvSpPr/>
          <p:nvPr/>
        </p:nvSpPr>
        <p:spPr>
          <a:xfrm>
            <a:off x="6172200" y="3703320"/>
            <a:ext cx="5440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Member number"/>
          <p:cNvSpPr/>
          <p:nvPr/>
        </p:nvSpPr>
        <p:spPr>
          <a:xfrm>
            <a:off x="6309360" y="38130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8130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Agreement Sambo</a:t>
            </a:r>
            <a:endParaRPr lang="en-US" sz="1800" dirty="0"/>
          </a:p>
        </p:txBody>
      </p:sp>
      <p:sp>
        <p:nvSpPr>
          <p:cNvPr id="35" name="Member"/>
          <p:cNvSpPr/>
          <p:nvPr/>
        </p:nvSpPr>
        <p:spPr>
          <a:xfrm>
            <a:off x="548640" y="4480560"/>
            <a:ext cx="5440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Member number"/>
          <p:cNvSpPr/>
          <p:nvPr/>
        </p:nvSpPr>
        <p:spPr>
          <a:xfrm>
            <a:off x="685800" y="45902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45902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Nolwazi Mchunu</a:t>
            </a:r>
            <a:endParaRPr lang="en-US" sz="1800" dirty="0"/>
          </a:p>
        </p:txBody>
      </p:sp>
      <p:sp>
        <p:nvSpPr>
          <p:cNvPr id="39" name="Member"/>
          <p:cNvSpPr/>
          <p:nvPr/>
        </p:nvSpPr>
        <p:spPr>
          <a:xfrm>
            <a:off x="6172200" y="4480560"/>
            <a:ext cx="5440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Member number"/>
          <p:cNvSpPr/>
          <p:nvPr/>
        </p:nvSpPr>
        <p:spPr>
          <a:xfrm>
            <a:off x="6309360" y="45902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0936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45902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Kgothatso Mathe</a:t>
            </a:r>
            <a:endParaRPr lang="en-US" sz="18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Agenda</a:t>
            </a:r>
            <a:endParaRPr lang="en-US" sz="3400" dirty="0"/>
          </a:p>
        </p:txBody>
      </p:sp>
      <p:sp>
        <p:nvSpPr>
          <p:cNvPr id="3" name="Agenda item"/>
          <p:cNvSpPr/>
          <p:nvPr/>
        </p:nvSpPr>
        <p:spPr>
          <a:xfrm>
            <a:off x="548640" y="1371600"/>
            <a:ext cx="54406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genda number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00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Scenario and Introduction</a:t>
            </a:r>
            <a:endParaRPr lang="en-US" sz="2000" dirty="0"/>
          </a:p>
        </p:txBody>
      </p:sp>
      <p:sp>
        <p:nvSpPr>
          <p:cNvPr id="7" name="Agenda item"/>
          <p:cNvSpPr/>
          <p:nvPr/>
        </p:nvSpPr>
        <p:spPr>
          <a:xfrm>
            <a:off x="6172200" y="1371600"/>
            <a:ext cx="54406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genda number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600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Solution</a:t>
            </a:r>
            <a:endParaRPr lang="en-US" sz="2000" dirty="0"/>
          </a:p>
        </p:txBody>
      </p:sp>
      <p:sp>
        <p:nvSpPr>
          <p:cNvPr id="11" name="Agenda item"/>
          <p:cNvSpPr/>
          <p:nvPr/>
        </p:nvSpPr>
        <p:spPr>
          <a:xfrm>
            <a:off x="548640" y="2606040"/>
            <a:ext cx="54406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genda number"/>
          <p:cNvSpPr/>
          <p:nvPr/>
        </p:nvSpPr>
        <p:spPr>
          <a:xfrm>
            <a:off x="777240" y="2834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834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Business Rules</a:t>
            </a:r>
            <a:endParaRPr lang="en-US" sz="2000" dirty="0"/>
          </a:p>
        </p:txBody>
      </p:sp>
      <p:sp>
        <p:nvSpPr>
          <p:cNvPr id="15" name="Agenda item"/>
          <p:cNvSpPr/>
          <p:nvPr/>
        </p:nvSpPr>
        <p:spPr>
          <a:xfrm>
            <a:off x="6172200" y="2606040"/>
            <a:ext cx="54406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genda number"/>
          <p:cNvSpPr/>
          <p:nvPr/>
        </p:nvSpPr>
        <p:spPr>
          <a:xfrm>
            <a:off x="6400800" y="2834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834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Database Normalization</a:t>
            </a:r>
            <a:endParaRPr lang="en-US" sz="2000" dirty="0"/>
          </a:p>
        </p:txBody>
      </p:sp>
      <p:sp>
        <p:nvSpPr>
          <p:cNvPr id="19" name="Agenda item"/>
          <p:cNvSpPr/>
          <p:nvPr/>
        </p:nvSpPr>
        <p:spPr>
          <a:xfrm>
            <a:off x="548640" y="3840480"/>
            <a:ext cx="54406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Agenda number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069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ERD Phase</a:t>
            </a:r>
            <a:endParaRPr lang="en-US" sz="2000" dirty="0"/>
          </a:p>
        </p:txBody>
      </p:sp>
      <p:sp>
        <p:nvSpPr>
          <p:cNvPr id="23" name="Agenda item"/>
          <p:cNvSpPr/>
          <p:nvPr/>
        </p:nvSpPr>
        <p:spPr>
          <a:xfrm>
            <a:off x="6172200" y="3840480"/>
            <a:ext cx="54406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Agenda number"/>
          <p:cNvSpPr/>
          <p:nvPr/>
        </p:nvSpPr>
        <p:spPr>
          <a:xfrm>
            <a:off x="640080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069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SQL Code</a:t>
            </a:r>
            <a:endParaRPr lang="en-US" sz="2000" dirty="0"/>
          </a:p>
        </p:txBody>
      </p:sp>
      <p:sp>
        <p:nvSpPr>
          <p:cNvPr id="27" name="Agenda item"/>
          <p:cNvSpPr/>
          <p:nvPr/>
        </p:nvSpPr>
        <p:spPr>
          <a:xfrm>
            <a:off x="548640" y="5074920"/>
            <a:ext cx="54406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Agenda number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5303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SQL Query Results</a:t>
            </a:r>
            <a:endParaRPr lang="en-US" sz="2000" dirty="0"/>
          </a:p>
        </p:txBody>
      </p:sp>
      <p:sp>
        <p:nvSpPr>
          <p:cNvPr id="31" name="Agenda item"/>
          <p:cNvSpPr/>
          <p:nvPr/>
        </p:nvSpPr>
        <p:spPr>
          <a:xfrm>
            <a:off x="6172200" y="5074920"/>
            <a:ext cx="54406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Agenda number"/>
          <p:cNvSpPr/>
          <p:nvPr/>
        </p:nvSpPr>
        <p:spPr>
          <a:xfrm>
            <a:off x="6400800" y="5303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5303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Scenario</a:t>
            </a:r>
            <a:endParaRPr lang="en-US" sz="3400" dirty="0"/>
          </a:p>
        </p:txBody>
      </p:sp>
      <p:sp>
        <p:nvSpPr>
          <p:cNvPr id="3" name="Step card"/>
          <p:cNvSpPr/>
          <p:nvPr/>
        </p:nvSpPr>
        <p:spPr>
          <a:xfrm>
            <a:off x="548640" y="137160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patient arrives at G14 Healthcare Facility in Vanderbijlpark, requiring medical attention</a:t>
            </a:r>
            <a:endParaRPr lang="en-US" sz="1500" dirty="0"/>
          </a:p>
        </p:txBody>
      </p:sp>
      <p:sp>
        <p:nvSpPr>
          <p:cNvPr id="7" name="Step card"/>
          <p:cNvSpPr/>
          <p:nvPr/>
        </p:nvSpPr>
        <p:spPr>
          <a:xfrm>
            <a:off x="3383280" y="137160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 number"/>
          <p:cNvSpPr/>
          <p:nvPr/>
        </p:nvSpPr>
        <p:spPr>
          <a:xfrm>
            <a:off x="361188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2860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patient's medical record must be located before care can proceed</a:t>
            </a:r>
            <a:endParaRPr lang="en-US" sz="1500" dirty="0"/>
          </a:p>
        </p:txBody>
      </p:sp>
      <p:sp>
        <p:nvSpPr>
          <p:cNvPr id="11" name="Step card"/>
          <p:cNvSpPr/>
          <p:nvPr/>
        </p:nvSpPr>
        <p:spPr>
          <a:xfrm>
            <a:off x="6217920" y="137160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 number"/>
          <p:cNvSpPr/>
          <p:nvPr/>
        </p:nvSpPr>
        <p:spPr>
          <a:xfrm>
            <a:off x="644652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2860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Physical files and manual record-keeping make finding the correct file slow</a:t>
            </a:r>
            <a:endParaRPr lang="en-US" sz="1500" dirty="0"/>
          </a:p>
        </p:txBody>
      </p:sp>
      <p:sp>
        <p:nvSpPr>
          <p:cNvPr id="15" name="Step card"/>
          <p:cNvSpPr/>
          <p:nvPr/>
        </p:nvSpPr>
        <p:spPr>
          <a:xfrm>
            <a:off x="9052560" y="137160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number"/>
          <p:cNvSpPr/>
          <p:nvPr/>
        </p:nvSpPr>
        <p:spPr>
          <a:xfrm>
            <a:off x="92811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2860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Other patients keep arriving, queues grow and staff face increasing pressure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48640" y="4297680"/>
            <a:ext cx="54406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480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challenge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93776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Delays in retrieving medical records can affect the patient experience and make it difficult for healthcare workers to access important information when they need it.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6172200" y="4297680"/>
            <a:ext cx="54406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4480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records are kept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93776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Patient information, appointments, treatments, prescriptions and billing details are stored in physical documents and separate files.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110642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Who we serve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5544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G14 Healthcare Facility provides basic healthcare services to the Vanderbijlpark community.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548640" y="3017520"/>
            <a:ext cx="110642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operations rely 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3200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Accurate and accessible information for patient care, appointment scheduling, treatment management, prescription records, billing and staff administration.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46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challenge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84632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existing flat-file system is becoming less suitable as the patient population grows. It relies heavily on manual processes, making information difficult to retrieve, update and maintain consistently.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Introduction: Key Problems Identified</a:t>
            </a:r>
            <a:endParaRPr lang="en-US" sz="34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371600"/>
            <a:ext cx="35661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Slow information retrieval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Slow information retrieval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Staff must manually search through physical files, delaying access to patient information.</a:t>
            </a:r>
            <a:endParaRPr lang="en-US" sz="1300" dirty="0"/>
          </a:p>
        </p:txBody>
      </p:sp>
      <p:sp>
        <p:nvSpPr>
          <p:cNvPr id="8" name="Problem card"/>
          <p:cNvSpPr/>
          <p:nvPr/>
        </p:nvSpPr>
        <p:spPr>
          <a:xfrm>
            <a:off x="4297680" y="1371600"/>
            <a:ext cx="35661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452628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oor record storag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916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Poor record storage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Paper documents occupy significant space and can be lost, damaged or misplaced.</a:t>
            </a:r>
            <a:endParaRPr lang="en-US" sz="1300" dirty="0"/>
          </a:p>
        </p:txBody>
      </p:sp>
      <p:sp>
        <p:nvSpPr>
          <p:cNvPr id="13" name="Problem card"/>
          <p:cNvSpPr/>
          <p:nvPr/>
        </p:nvSpPr>
        <p:spPr>
          <a:xfrm>
            <a:off x="8046720" y="1371600"/>
            <a:ext cx="35661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827532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Data duplica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6916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75320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duplication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same patient information may be recorded in appointment, treatment, prescription and billing files.</a:t>
            </a:r>
            <a:endParaRPr lang="en-US" sz="1300" dirty="0"/>
          </a:p>
        </p:txBody>
      </p:sp>
      <p:sp>
        <p:nvSpPr>
          <p:cNvPr id="18" name="Problem card"/>
          <p:cNvSpPr/>
          <p:nvPr/>
        </p:nvSpPr>
        <p:spPr>
          <a:xfrm>
            <a:off x="548640" y="3886200"/>
            <a:ext cx="35661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Difficult information update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062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4709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Difficult information updates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5303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Changes to patient details may need to be made across several files, creating opportunities for human error.</a:t>
            </a:r>
            <a:endParaRPr lang="en-US" sz="1300" dirty="0"/>
          </a:p>
        </p:txBody>
      </p:sp>
      <p:sp>
        <p:nvSpPr>
          <p:cNvPr id="23" name="Problem card"/>
          <p:cNvSpPr/>
          <p:nvPr/>
        </p:nvSpPr>
        <p:spPr>
          <a:xfrm>
            <a:off x="4297680" y="3886200"/>
            <a:ext cx="35661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 circle"/>
          <p:cNvSpPr/>
          <p:nvPr/>
        </p:nvSpPr>
        <p:spPr>
          <a:xfrm>
            <a:off x="452628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Data integrity and security concern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2062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26280" y="4709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integrity and security concerns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5303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Complete, accurate and protected records are harder to maintain when information is scattered.</a:t>
            </a:r>
            <a:endParaRPr lang="en-US" sz="1300" dirty="0"/>
          </a:p>
        </p:txBody>
      </p:sp>
      <p:sp>
        <p:nvSpPr>
          <p:cNvPr id="28" name="Problem card"/>
          <p:cNvSpPr/>
          <p:nvPr/>
        </p:nvSpPr>
        <p:spPr>
          <a:xfrm>
            <a:off x="8046720" y="3886200"/>
            <a:ext cx="35661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827532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Inefficient reporting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420624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275320" y="4709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Inefficient reporting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5303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Compiling reports and analysing operations is challenging when information is in separate files.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Solution</a:t>
            </a:r>
            <a:endParaRPr lang="en-US" sz="3400" dirty="0"/>
          </a:p>
        </p:txBody>
      </p:sp>
      <p:sp>
        <p:nvSpPr>
          <p:cNvPr id="3" name="Statement card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188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G14's existing flat-file system with a relational database management system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800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Group 14 proposes a structured database solution designed around G14's information management needs.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63640" y="1371600"/>
            <a:ext cx="53492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Structured, related tables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Information is organised into related tables rather than scattered across separate physical files.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263640" y="3017520"/>
            <a:ext cx="53492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3200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Primary and foreign keys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6576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Keys establish relationships between the different types of records.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263640" y="4663440"/>
            <a:ext cx="53492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846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Linked, not duplicated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53035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patient's information links to appointments, treatments and prescriptions without repeating details in every record.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Solution: How It Works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Proposed tables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Patients, doctors, appointments, treatments, prescriptions, bills and staff members. Each table stores information relevant to its purpose.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172200" y="1371600"/>
            <a:ext cx="544068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Database normalisation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1168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Progressing from Unnormalized Form (UNF) through 1NF and 2NF to 3NF reduces data duplication, improves consistency and maintains data integrity.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3886200"/>
            <a:ext cx="544068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069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Security and backup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2628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Appropriate access controls, security measures and backup procedures protect sensitive patient information from loss or unauthorised access.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172200" y="3886200"/>
            <a:ext cx="5440680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4069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Expected outcome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52628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Reduced administrative burden, better record organisation and better access to patient information. The database cannot independently guarantee shorter waiting times or better clinical outcomes.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Business Rules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rules describe how G14 Healthcare Facility operates and how data is managed within the proposed relational database, supporting day-to-day hospital operations.</a:t>
            </a:r>
            <a:endParaRPr lang="en-US" sz="1600" dirty="0"/>
          </a:p>
        </p:txBody>
      </p:sp>
      <p:sp>
        <p:nvSpPr>
          <p:cNvPr id="4" name="Rule group"/>
          <p:cNvSpPr/>
          <p:nvPr/>
        </p:nvSpPr>
        <p:spPr>
          <a:xfrm>
            <a:off x="548640" y="228600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Patient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BR1 to BR5</a:t>
            </a:r>
            <a:endParaRPr lang="en-US" sz="1400" dirty="0"/>
          </a:p>
        </p:txBody>
      </p:sp>
      <p:sp>
        <p:nvSpPr>
          <p:cNvPr id="7" name="Rule group"/>
          <p:cNvSpPr/>
          <p:nvPr/>
        </p:nvSpPr>
        <p:spPr>
          <a:xfrm>
            <a:off x="2788920" y="228600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Staff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</a:rPr>
              <a:t>BR6 to BR11</a:t>
            </a:r>
            <a:endParaRPr lang="en-US" sz="1400" dirty="0"/>
          </a:p>
        </p:txBody>
      </p:sp>
      <p:sp>
        <p:nvSpPr>
          <p:cNvPr id="10" name="Rule group"/>
          <p:cNvSpPr/>
          <p:nvPr/>
        </p:nvSpPr>
        <p:spPr>
          <a:xfrm>
            <a:off x="5029200" y="228600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6636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Appointment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BR12 to BR19</a:t>
            </a:r>
            <a:endParaRPr lang="en-US" sz="1400" dirty="0"/>
          </a:p>
        </p:txBody>
      </p:sp>
      <p:sp>
        <p:nvSpPr>
          <p:cNvPr id="13" name="Rule group"/>
          <p:cNvSpPr/>
          <p:nvPr/>
        </p:nvSpPr>
        <p:spPr>
          <a:xfrm>
            <a:off x="7269480" y="228600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Admission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</a:rPr>
              <a:t>BR20 to BR26</a:t>
            </a:r>
            <a:endParaRPr lang="en-US" sz="1400" dirty="0"/>
          </a:p>
        </p:txBody>
      </p:sp>
      <p:sp>
        <p:nvSpPr>
          <p:cNvPr id="16" name="Rule group"/>
          <p:cNvSpPr/>
          <p:nvPr/>
        </p:nvSpPr>
        <p:spPr>
          <a:xfrm>
            <a:off x="9509760" y="228600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4692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Ward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64692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BR27 to BR30</a:t>
            </a:r>
            <a:endParaRPr lang="en-US" sz="1400" dirty="0"/>
          </a:p>
        </p:txBody>
      </p:sp>
      <p:sp>
        <p:nvSpPr>
          <p:cNvPr id="19" name="Rule group"/>
          <p:cNvSpPr/>
          <p:nvPr/>
        </p:nvSpPr>
        <p:spPr>
          <a:xfrm>
            <a:off x="548640" y="429768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09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Room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257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</a:rPr>
              <a:t>BR31 to BR39</a:t>
            </a:r>
            <a:endParaRPr lang="en-US" sz="1400" dirty="0"/>
          </a:p>
        </p:txBody>
      </p:sp>
      <p:sp>
        <p:nvSpPr>
          <p:cNvPr id="22" name="Rule group"/>
          <p:cNvSpPr/>
          <p:nvPr/>
        </p:nvSpPr>
        <p:spPr>
          <a:xfrm>
            <a:off x="2788920" y="429768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26080" y="4709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Treatment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5257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BR40 to BR46</a:t>
            </a:r>
            <a:endParaRPr lang="en-US" sz="1400" dirty="0"/>
          </a:p>
        </p:txBody>
      </p:sp>
      <p:sp>
        <p:nvSpPr>
          <p:cNvPr id="25" name="Rule group"/>
          <p:cNvSpPr/>
          <p:nvPr/>
        </p:nvSpPr>
        <p:spPr>
          <a:xfrm>
            <a:off x="5029200" y="429768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66360" y="4709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Medicine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5257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</a:rPr>
              <a:t>BR47 to BR52</a:t>
            </a:r>
            <a:endParaRPr lang="en-US" sz="1400" dirty="0"/>
          </a:p>
        </p:txBody>
      </p:sp>
      <p:sp>
        <p:nvSpPr>
          <p:cNvPr id="28" name="Rule group"/>
          <p:cNvSpPr/>
          <p:nvPr/>
        </p:nvSpPr>
        <p:spPr>
          <a:xfrm>
            <a:off x="7269480" y="429768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0" y="4709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Prescription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5257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BR53 to BR60</a:t>
            </a:r>
            <a:endParaRPr lang="en-US" sz="1400" dirty="0"/>
          </a:p>
        </p:txBody>
      </p:sp>
      <p:sp>
        <p:nvSpPr>
          <p:cNvPr id="31" name="Rule group"/>
          <p:cNvSpPr/>
          <p:nvPr/>
        </p:nvSpPr>
        <p:spPr>
          <a:xfrm>
            <a:off x="9509760" y="429768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46920" y="4709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Billing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9646920" y="5257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</a:rPr>
              <a:t>BR61 to BR65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Patient and Staff Rules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Patient Rules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BR1  </a:t>
            </a:r>
            <a:r>
              <a:rPr lang="en-US" sz="1700" dirty="0">
                <a:solidFill>
                  <a:schemeClr val="tx1"/>
                </a:solidFill>
              </a:rPr>
              <a:t>Each patient is identified by a PatientID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BR2  </a:t>
            </a:r>
            <a:r>
              <a:rPr lang="en-US" sz="1700" dirty="0">
                <a:solidFill>
                  <a:schemeClr val="tx1"/>
                </a:solidFill>
              </a:rPr>
              <a:t>A patient can have one or more appointments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BR3  </a:t>
            </a:r>
            <a:r>
              <a:rPr lang="en-US" sz="1700" dirty="0">
                <a:solidFill>
                  <a:schemeClr val="tx1"/>
                </a:solidFill>
              </a:rPr>
              <a:t>Each appointment has exactly one patient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BR4  </a:t>
            </a:r>
            <a:r>
              <a:rPr lang="en-US" sz="1700" dirty="0">
                <a:solidFill>
                  <a:schemeClr val="tx1"/>
                </a:solidFill>
              </a:rPr>
              <a:t>A patient can have one or more billing records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BR5  </a:t>
            </a:r>
            <a:r>
              <a:rPr lang="en-US" sz="1700" dirty="0">
                <a:solidFill>
                  <a:schemeClr val="tx1"/>
                </a:solidFill>
              </a:rPr>
              <a:t>A patient can be in the system without an appointment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Staff Rules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BR6  </a:t>
            </a:r>
            <a:r>
              <a:rPr lang="en-US" sz="1700" dirty="0">
                <a:solidFill>
                  <a:schemeClr val="tx1"/>
                </a:solidFill>
              </a:rPr>
              <a:t>Every staff member has their own StaffID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BR7  </a:t>
            </a:r>
            <a:r>
              <a:rPr lang="en-US" sz="1700" dirty="0">
                <a:solidFill>
                  <a:schemeClr val="tx1"/>
                </a:solidFill>
              </a:rPr>
              <a:t>Every staff member has a StaffType: Doctor, Nurse, Receptionist or Administrator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BR9  </a:t>
            </a:r>
            <a:r>
              <a:rPr lang="en-US" sz="1700" dirty="0">
                <a:solidFill>
                  <a:schemeClr val="tx1"/>
                </a:solidFill>
              </a:rPr>
              <a:t>A staff member can be in multiple treatments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BR10  </a:t>
            </a:r>
            <a:r>
              <a:rPr lang="en-US" sz="1700" dirty="0">
                <a:solidFill>
                  <a:schemeClr val="tx1"/>
                </a:solidFill>
              </a:rPr>
              <a:t>Only Doctors and Nurses can be assigned to treatments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BR11  </a:t>
            </a:r>
            <a:r>
              <a:rPr lang="en-US" sz="1700" dirty="0">
                <a:solidFill>
                  <a:schemeClr val="tx1"/>
                </a:solidFill>
              </a:rPr>
              <a:t>Receptionists and Administrators cannot give or supervise treatments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Appointment and Admission Rules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Appointment Rules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BR12  </a:t>
            </a:r>
            <a:r>
              <a:rPr lang="en-US" sz="1700" dirty="0">
                <a:solidFill>
                  <a:schemeClr val="tx1"/>
                </a:solidFill>
              </a:rPr>
              <a:t>Each appointment has a unique AppointmentID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BR13  </a:t>
            </a:r>
            <a:r>
              <a:rPr lang="en-US" sz="1700" dirty="0">
                <a:solidFill>
                  <a:schemeClr val="tx1"/>
                </a:solidFill>
              </a:rPr>
              <a:t>Each appointment has one patient assigned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BR15  </a:t>
            </a:r>
            <a:r>
              <a:rPr lang="en-US" sz="1700" dirty="0">
                <a:solidFill>
                  <a:schemeClr val="tx1"/>
                </a:solidFill>
              </a:rPr>
              <a:t>The patient must be in the system before an appointment is created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BR17  </a:t>
            </a:r>
            <a:r>
              <a:rPr lang="en-US" sz="1700" dirty="0">
                <a:solidFill>
                  <a:schemeClr val="tx1"/>
                </a:solidFill>
              </a:rPr>
              <a:t>An appointment can yield 0 or 1 admissions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BR18  </a:t>
            </a:r>
            <a:r>
              <a:rPr lang="en-US" sz="1700" dirty="0">
                <a:solidFill>
                  <a:schemeClr val="tx1"/>
                </a:solidFill>
              </a:rPr>
              <a:t>Zero, one or many prescriptions per appointment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BR19  </a:t>
            </a:r>
            <a:r>
              <a:rPr lang="en-US" sz="1700" dirty="0">
                <a:solidFill>
                  <a:schemeClr val="tx1"/>
                </a:solidFill>
              </a:rPr>
              <a:t>Appointment status is recorded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Admission Rules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BR20  </a:t>
            </a:r>
            <a:r>
              <a:rPr lang="en-US" sz="1700" dirty="0">
                <a:solidFill>
                  <a:schemeClr val="tx1"/>
                </a:solidFill>
              </a:rPr>
              <a:t>Each admission has a unique AdmissionID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BR21  </a:t>
            </a:r>
            <a:r>
              <a:rPr lang="en-US" sz="1700" dirty="0">
                <a:solidFill>
                  <a:schemeClr val="tx1"/>
                </a:solidFill>
              </a:rPr>
              <a:t>Every admission comes from one appointment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BR22  </a:t>
            </a:r>
            <a:r>
              <a:rPr lang="en-US" sz="1700" dirty="0">
                <a:solidFill>
                  <a:schemeClr val="tx1"/>
                </a:solidFill>
              </a:rPr>
              <a:t>Each admission is given a room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BR24  </a:t>
            </a:r>
            <a:r>
              <a:rPr lang="en-US" sz="1700" dirty="0">
                <a:solidFill>
                  <a:schemeClr val="tx1"/>
                </a:solidFill>
              </a:rPr>
              <a:t>No admission without an appointment and room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BR25  </a:t>
            </a:r>
            <a:r>
              <a:rPr lang="en-US" sz="1700" dirty="0">
                <a:solidFill>
                  <a:schemeClr val="tx1"/>
                </a:solidFill>
              </a:rPr>
              <a:t>Admission and discharge dates are documented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BR26  </a:t>
            </a:r>
            <a:r>
              <a:rPr lang="en-US" sz="1700" dirty="0">
                <a:solidFill>
                  <a:schemeClr val="tx1"/>
                </a:solidFill>
              </a:rPr>
              <a:t>A patient can have several admissions over time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Ward and Room Rules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Ward Rules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BR27  </a:t>
            </a:r>
            <a:r>
              <a:rPr lang="en-US" sz="1700" dirty="0">
                <a:solidFill>
                  <a:schemeClr val="tx1"/>
                </a:solidFill>
              </a:rPr>
              <a:t>Every ward has a WardID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BR28  </a:t>
            </a:r>
            <a:r>
              <a:rPr lang="en-US" sz="1700" dirty="0">
                <a:solidFill>
                  <a:schemeClr val="tx1"/>
                </a:solidFill>
              </a:rPr>
              <a:t>A ward can have one or more rooms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BR29  </a:t>
            </a:r>
            <a:r>
              <a:rPr lang="en-US" sz="1700" dirty="0">
                <a:solidFill>
                  <a:schemeClr val="tx1"/>
                </a:solidFill>
              </a:rPr>
              <a:t>Each room is assigned to only one ward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Room Rules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BR31  </a:t>
            </a:r>
            <a:r>
              <a:rPr lang="en-US" sz="1700" dirty="0">
                <a:solidFill>
                  <a:schemeClr val="tx1"/>
                </a:solidFill>
              </a:rPr>
              <a:t>Every room has a RoomID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BR33  </a:t>
            </a:r>
            <a:r>
              <a:rPr lang="en-US" sz="1700" dirty="0">
                <a:solidFill>
                  <a:schemeClr val="tx1"/>
                </a:solidFill>
              </a:rPr>
              <a:t>A room can serve several admissions over time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BR34  </a:t>
            </a:r>
            <a:r>
              <a:rPr lang="en-US" sz="1700" dirty="0">
                <a:solidFill>
                  <a:schemeClr val="tx1"/>
                </a:solidFill>
              </a:rPr>
              <a:t>One patient per room at a given time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BR36  </a:t>
            </a:r>
            <a:r>
              <a:rPr lang="en-US" sz="1700" dirty="0">
                <a:solidFill>
                  <a:schemeClr val="tx1"/>
                </a:solidFill>
              </a:rPr>
              <a:t>RoomAvailability is Available or Occupied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BR37  </a:t>
            </a:r>
            <a:r>
              <a:rPr lang="en-US" sz="1700" dirty="0">
                <a:solidFill>
                  <a:schemeClr val="tx1"/>
                </a:solidFill>
              </a:rPr>
              <a:t>Patients can only be put in an Available room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BR38  </a:t>
            </a:r>
            <a:r>
              <a:rPr lang="en-US" sz="1700" dirty="0">
                <a:solidFill>
                  <a:schemeClr val="tx1"/>
                </a:solidFill>
              </a:rPr>
              <a:t>On admission the room becomes Occupied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BR39  </a:t>
            </a:r>
            <a:r>
              <a:rPr lang="en-US" sz="1700" dirty="0">
                <a:solidFill>
                  <a:schemeClr val="tx1"/>
                </a:solidFill>
              </a:rPr>
              <a:t>On discharge the room becomes Available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Treatment and Medicine Rules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Treatment Rules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BR40  </a:t>
            </a:r>
            <a:r>
              <a:rPr lang="en-US" sz="1700" dirty="0">
                <a:solidFill>
                  <a:schemeClr val="tx1"/>
                </a:solidFill>
              </a:rPr>
              <a:t>Each treatment has a unique TreatmentID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BR41  </a:t>
            </a:r>
            <a:r>
              <a:rPr lang="en-US" sz="1700" dirty="0">
                <a:solidFill>
                  <a:schemeClr val="tx1"/>
                </a:solidFill>
              </a:rPr>
              <a:t>All treatments belong to an appointment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BR42  </a:t>
            </a:r>
            <a:r>
              <a:rPr lang="en-US" sz="1700" dirty="0">
                <a:solidFill>
                  <a:schemeClr val="tx1"/>
                </a:solidFill>
              </a:rPr>
              <a:t>Each treatment is carried out or supervised by one staff member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BR43  </a:t>
            </a:r>
            <a:r>
              <a:rPr lang="en-US" sz="1700" dirty="0">
                <a:solidFill>
                  <a:schemeClr val="tx1"/>
                </a:solidFill>
              </a:rPr>
              <a:t>One or more treatments per appointment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BR44  </a:t>
            </a:r>
            <a:r>
              <a:rPr lang="en-US" sz="1700" dirty="0">
                <a:solidFill>
                  <a:schemeClr val="tx1"/>
                </a:solidFill>
              </a:rPr>
              <a:t>Diagnosis and treatment description are recorded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BR46  </a:t>
            </a:r>
            <a:r>
              <a:rPr lang="en-US" sz="1700" dirty="0">
                <a:solidFill>
                  <a:schemeClr val="tx1"/>
                </a:solidFill>
              </a:rPr>
              <a:t>Treatment can be for an outpatient or an admitted patient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Medicine Rules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BR47  </a:t>
            </a:r>
            <a:r>
              <a:rPr lang="en-US" sz="1700" dirty="0">
                <a:solidFill>
                  <a:schemeClr val="tx1"/>
                </a:solidFill>
              </a:rPr>
              <a:t>Each medicine has a unique MedicineID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BR48  </a:t>
            </a:r>
            <a:r>
              <a:rPr lang="en-US" sz="1700" dirty="0">
                <a:solidFill>
                  <a:schemeClr val="tx1"/>
                </a:solidFill>
              </a:rPr>
              <a:t>Every medicine has a MedicineName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BR49  </a:t>
            </a:r>
            <a:r>
              <a:rPr lang="en-US" sz="1700" dirty="0">
                <a:solidFill>
                  <a:schemeClr val="tx1"/>
                </a:solidFill>
              </a:rPr>
              <a:t>Every medicine has a stock value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BR50  </a:t>
            </a:r>
            <a:r>
              <a:rPr lang="en-US" sz="1700" dirty="0">
                <a:solidFill>
                  <a:schemeClr val="tx1"/>
                </a:solidFill>
              </a:rPr>
              <a:t>A medicine can be on several prescriptions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BR51  </a:t>
            </a:r>
            <a:r>
              <a:rPr lang="en-US" sz="1700" dirty="0">
                <a:solidFill>
                  <a:schemeClr val="tx1"/>
                </a:solidFill>
              </a:rPr>
              <a:t>A medicine can exist without a prescription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BR52  </a:t>
            </a:r>
            <a:r>
              <a:rPr lang="en-US" sz="1700" dirty="0">
                <a:solidFill>
                  <a:schemeClr val="tx1"/>
                </a:solidFill>
              </a:rPr>
              <a:t>Stock is adjusted when medication is supplied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Prescription and Billing Rules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Prescription Rules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BR53  </a:t>
            </a:r>
            <a:r>
              <a:rPr lang="en-US" sz="1700" dirty="0">
                <a:solidFill>
                  <a:schemeClr val="tx1"/>
                </a:solidFill>
              </a:rPr>
              <a:t>Each prescription has a unique PrescriptionID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BR54  </a:t>
            </a:r>
            <a:r>
              <a:rPr lang="en-US" sz="1700" dirty="0">
                <a:solidFill>
                  <a:schemeClr val="tx1"/>
                </a:solidFill>
              </a:rPr>
              <a:t>Each prescription is linked to an appointment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BR55  </a:t>
            </a:r>
            <a:r>
              <a:rPr lang="en-US" sz="1700" dirty="0">
                <a:solidFill>
                  <a:schemeClr val="tx1"/>
                </a:solidFill>
              </a:rPr>
              <a:t>Every prescription includes one medicine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BR58  </a:t>
            </a:r>
            <a:r>
              <a:rPr lang="en-US" sz="1700" dirty="0">
                <a:solidFill>
                  <a:schemeClr val="tx1"/>
                </a:solidFill>
              </a:rPr>
              <a:t>Multiple prescriptions can be issued for one appointment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BR60  </a:t>
            </a:r>
            <a:r>
              <a:rPr lang="en-US" sz="1700" dirty="0">
                <a:solidFill>
                  <a:schemeClr val="tx1"/>
                </a:solidFill>
              </a:rPr>
              <a:t>Dosage is recorded for each prescription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Billing Rules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BR61  </a:t>
            </a:r>
            <a:r>
              <a:rPr lang="en-US" sz="1700" dirty="0">
                <a:solidFill>
                  <a:schemeClr val="tx1"/>
                </a:solidFill>
              </a:rPr>
              <a:t>Each bill has a unique BillID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BR62  </a:t>
            </a:r>
            <a:r>
              <a:rPr lang="en-US" sz="1700" dirty="0">
                <a:solidFill>
                  <a:schemeClr val="tx1"/>
                </a:solidFill>
              </a:rPr>
              <a:t>Each bill belongs to one patient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BR63  </a:t>
            </a:r>
            <a:r>
              <a:rPr lang="en-US" sz="1700" dirty="0">
                <a:solidFill>
                  <a:schemeClr val="tx1"/>
                </a:solidFill>
              </a:rPr>
              <a:t>A patient may have multiple billing records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BR64  </a:t>
            </a:r>
            <a:r>
              <a:rPr lang="en-US" sz="1700" dirty="0">
                <a:solidFill>
                  <a:schemeClr val="tx1"/>
                </a:solidFill>
              </a:rPr>
              <a:t>PaymentStatus is Paid, Pending or Overdue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BR65  </a:t>
            </a:r>
            <a:r>
              <a:rPr lang="en-US" sz="1700" dirty="0">
                <a:solidFill>
                  <a:schemeClr val="tx1"/>
                </a:solidFill>
              </a:rPr>
              <a:t>Bills reflect services provided in appointments, admissions, treatments and prescriptions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Relationship and Cardinality Summary</a:t>
            </a:r>
            <a:endParaRPr lang="en-US" sz="34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  <a:gridCol w="429768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One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Can have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Related records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Patient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many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Appointments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Patient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many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Billing records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Appointment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many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Treatments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Appointment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many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Prescriptions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Appointment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zero or one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Admission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Ward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several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Rooms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Room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many, over time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Admissions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Staff member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many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Treatments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Medicine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several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Prescriptions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Database Normalization: Introduction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Normalization converts the existing flat-file system into a structured relational database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flat file combines patient, staff, treatment, room and billing data, causing duplicated records, inefficient retrieval and update challenges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Performed step by step to reduce duplication, ensure data integrity and meet G14's operational requirements</a:t>
            </a:r>
            <a:endParaRPr lang="en-US" sz="1700" dirty="0"/>
          </a:p>
        </p:txBody>
      </p:sp>
      <p:sp>
        <p:nvSpPr>
          <p:cNvPr id="4" name="Normal form step"/>
          <p:cNvSpPr txBox="1"/>
          <p:nvPr/>
        </p:nvSpPr>
        <p:spPr>
          <a:xfrm>
            <a:off x="548640" y="4023360"/>
            <a:ext cx="2926080" cy="137160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UNF</a:t>
            </a:r>
            <a:endParaRPr lang="en-US" sz="2800" dirty="0"/>
          </a:p>
        </p:txBody>
      </p:sp>
      <p:sp>
        <p:nvSpPr>
          <p:cNvPr id="5" name="Normal form step"/>
          <p:cNvSpPr txBox="1"/>
          <p:nvPr/>
        </p:nvSpPr>
        <p:spPr>
          <a:xfrm>
            <a:off x="3337560" y="4023360"/>
            <a:ext cx="2926080" cy="137160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1NF</a:t>
            </a:r>
            <a:endParaRPr lang="en-US" sz="2800" dirty="0"/>
          </a:p>
        </p:txBody>
      </p:sp>
      <p:sp>
        <p:nvSpPr>
          <p:cNvPr id="6" name="Normal form step"/>
          <p:cNvSpPr txBox="1"/>
          <p:nvPr/>
        </p:nvSpPr>
        <p:spPr>
          <a:xfrm>
            <a:off x="6126480" y="4023360"/>
            <a:ext cx="2926080" cy="137160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2NF</a:t>
            </a:r>
            <a:endParaRPr lang="en-US" sz="2800" dirty="0"/>
          </a:p>
        </p:txBody>
      </p:sp>
      <p:sp>
        <p:nvSpPr>
          <p:cNvPr id="7" name="Normal form step"/>
          <p:cNvSpPr txBox="1"/>
          <p:nvPr/>
        </p:nvSpPr>
        <p:spPr>
          <a:xfrm>
            <a:off x="8915400" y="4023360"/>
            <a:ext cx="2926080" cy="1371600"/>
          </a:xfrm>
          <a:prstGeom prst="chevr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3NF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Unnormalized Form  to  First  to  Second  to  Third Normal Form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Unnormalized Form (UNF)</a:t>
            </a:r>
            <a:endParaRPr lang="en-US" sz="34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554480"/>
                <a:gridCol w="1371600"/>
                <a:gridCol w="1554480"/>
                <a:gridCol w="1554480"/>
                <a:gridCol w="1280160"/>
                <a:gridCol w="118872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PatientID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PatientName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AppointmentID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TreatmentID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PrescriptionID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MedicineName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WardName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BillAmount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John Smith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Amlodipine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General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John Smith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T002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PR002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Aspirin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General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P002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Mary Jones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A002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T003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PR003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Paracetamol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Surgical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P003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David Brown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A003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T004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PR004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Metformin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ICU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520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Problems Identified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Patient information is repeated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Appointment information is repeated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Medicine information is repeated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393192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Billing information appears multiple times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redundancy exists throughout the table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Updating, deleting or inserting data may cause anomalies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First Normal Form (1NF)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Patient</a:t>
            </a:r>
            <a:endParaRPr lang="en-US" sz="15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120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1097280"/>
                <a:gridCol w="192024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PatientID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FirstName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LastName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PhoneNumber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John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Smith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0823456789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P002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Mary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Jones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0834567890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P003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David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Brown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0845678901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291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Appointment</a:t>
            </a:r>
            <a:endParaRPr lang="en-US" sz="1500" dirty="0"/>
          </a:p>
        </p:txBody>
      </p:sp>
      <p:graphicFrame>
        <p:nvGraphicFramePr>
          <p:cNvPr id="3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1097280"/>
                <a:gridCol w="731520"/>
                <a:gridCol w="118872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AppointmentID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PatientID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A001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P001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01/04/2026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08:00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A002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P002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03/04/2026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09:30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A003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P003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05/04/2026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10:00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0350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Admission</a:t>
            </a:r>
            <a:endParaRPr lang="en-US" sz="1500" dirty="0"/>
          </a:p>
        </p:txBody>
      </p:sp>
      <p:graphicFrame>
        <p:nvGraphicFramePr>
          <p:cNvPr id="5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91640"/>
          <a:ext cx="5577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822960"/>
                <a:gridCol w="731520"/>
                <a:gridCol w="1051560"/>
                <a:gridCol w="105156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AdmissionID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AppointmentID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PatientID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RoomID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Admitted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Discharged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AD001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A001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P001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01/04/2026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05/04/2026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AD002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A002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P002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03/04/2026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07/04/2026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Card"/>
          <p:cNvSpPr/>
          <p:nvPr/>
        </p:nvSpPr>
        <p:spPr>
          <a:xfrm>
            <a:off x="6035040" y="3200400"/>
            <a:ext cx="55778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263640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1NF rule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6263640" y="384048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All repeating groups are removed and each attribute is restricted to a single atomic value per entry.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1NF: Treatment, Medicine, Prescription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Treatment</a:t>
            </a:r>
            <a:endParaRPr lang="en-US" sz="15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005840"/>
                <a:gridCol w="182880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TreatmentID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AppointmentID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StaffID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Diagnosis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Hypertension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T002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Monitoring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T003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A002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Influenza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291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Medicine</a:t>
            </a:r>
            <a:endParaRPr lang="en-US" sz="1500" dirty="0"/>
          </a:p>
        </p:txBody>
      </p:sp>
      <p:graphicFrame>
        <p:nvGraphicFramePr>
          <p:cNvPr id="3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155448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MedicineID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MedicineName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Stock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Amlodipine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M002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Aspirin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M003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Paracetamol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Prescription</a:t>
            </a:r>
            <a:endParaRPr lang="en-US" sz="1500" dirty="0"/>
          </a:p>
        </p:txBody>
      </p:sp>
      <p:graphicFrame>
        <p:nvGraphicFramePr>
          <p:cNvPr id="5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12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005840"/>
                <a:gridCol w="173736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PrescriptionID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AppointmentID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MedicineID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Dosage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PR001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A001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M001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5mg Daily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PR002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A001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M002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100mg Daily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PR003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A002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M003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500mg Every 6 Hours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Card"/>
          <p:cNvSpPr/>
          <p:nvPr/>
        </p:nvSpPr>
        <p:spPr>
          <a:xfrm>
            <a:off x="6400800" y="3291840"/>
            <a:ext cx="521208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62940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After 1NF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6629400" y="38404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Repeating groups were eliminated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Atomic values were enforced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row became uniquely identifiable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became easier to manage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Second Normal Form (2NF)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All non-key attributes depend on the primary key.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Staff</a:t>
            </a:r>
            <a:endParaRPr lang="en-US" sz="15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097280"/>
                <a:gridCol w="192024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StaffID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StaffType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Initials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PhoneNumber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Doctor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JM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1236547890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Nurse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0174852369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Doctor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LK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0321458796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429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Billing</a:t>
            </a:r>
            <a:endParaRPr lang="en-US" sz="1500" dirty="0"/>
          </a:p>
        </p:txBody>
      </p:sp>
      <p:graphicFrame>
        <p:nvGraphicFramePr>
          <p:cNvPr id="4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5394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188720"/>
                <a:gridCol w="201168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BillID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PatientID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PaymentStatus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P001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B002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P002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Pending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B003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P003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309360" y="1554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Ward</a:t>
            </a:r>
            <a:endParaRPr lang="en-US" sz="1500" dirty="0"/>
          </a:p>
        </p:txBody>
      </p:sp>
      <p:graphicFrame>
        <p:nvGraphicFramePr>
          <p:cNvPr id="6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74520"/>
          <a:ext cx="3291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WardID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WardName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General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Surgical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ICU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309360" y="3429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Room</a:t>
            </a:r>
            <a:endParaRPr lang="en-US" sz="1500" dirty="0"/>
          </a:p>
        </p:txBody>
      </p:sp>
      <p:graphicFrame>
        <p:nvGraphicFramePr>
          <p:cNvPr id="8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749040"/>
          <a:ext cx="530352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1051560"/>
                <a:gridCol w="1188720"/>
                <a:gridCol w="150876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RoomID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WardID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WardName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RoomNumber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RoomAvailability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General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Occupied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Surgical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Occupied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R03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General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Occupied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R04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W03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ICU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Occupied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R05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Surgical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Occupied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Second Normal Form (2NF): Improvements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After 2NF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Partial dependencies were removed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Data was separated into subject-specific entities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Medicine information was no longer duplicated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Prescription management improved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Data redundancy was significantly reduced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 problem still exists in the Room table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11680"/>
            <a:ext cx="49834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WardName depends on WardID rather than RoomID. This transitive dependency violates 3NF.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This takes us to the next step: Third Normal Form.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Third Normal Form (3NF)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All transitive dependencies are removed.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Room</a:t>
            </a:r>
            <a:endParaRPr lang="en-US" sz="1500" dirty="0"/>
          </a:p>
        </p:txBody>
      </p:sp>
      <p:graphicFrame>
        <p:nvGraphicFramePr>
          <p:cNvPr id="2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463040"/>
                <a:gridCol w="192024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RoomID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WardID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RoomNumber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RoomAvailability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Occupied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Occupied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Occupied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R04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W03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Occupied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R05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Occupied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4206240"/>
            <a:ext cx="5394960" cy="192024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Transitive dependency removed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8463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WardName now lives only in the Ward table, so the Room table achieves 3NF.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We achieve the following because of 3NF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2011680"/>
            <a:ext cx="4983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Repeating groups are eliminated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Partial dependencies are removed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Transitive dependencies are removed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Medicine data is separated from prescription data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Appointment information is stored once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Foreign keys link related tables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Data integrity is improved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Redundancy is minimized throughout the database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Final 3NF Relations</a:t>
            </a:r>
            <a:endParaRPr lang="en-US" sz="3400" dirty="0"/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Entities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Attributes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Patient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PatientID (PK), FirstName, LastName, PhoneNumber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Appointment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AppointmentID (PK), PatientID (FK), AppointmentDate, AppointmentTime, AppointmentStatus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Admission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AdmissionID (PK), AppointmentID (FK), PatientID (FK), RoomID (FK), AdmissionDate, DischargeDate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Ward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WardID (PK), WardName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Room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RoomID (PK), WardID (FK), RoomNumber, RoomAvailability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Staff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StaffID (PK), StaffType, Initials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Treatment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TreatmentID (PK), AppointmentID (FK), StaffID (FK), Diagnosis, TreatmentDescription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Medicine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MedicineID (PK), MedicineName, Stock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Prescription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PrescriptionID (PK), AppointmentID (FK), MedicineID (FK), Dosage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Billing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BillID (PK), PatientID (FK), Amount, PaymentStatus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Resulting ERD</a:t>
            </a:r>
            <a:endParaRPr lang="en-US" sz="3400" dirty="0"/>
          </a:p>
        </p:txBody>
      </p:sp>
      <p:pic>
        <p:nvPicPr>
          <p:cNvPr id="3" name="Image 0" descr="Entity relationship diagram produced by normaliz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280160"/>
            <a:ext cx="9509760" cy="48607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Database Normalization: Summary</a:t>
            </a:r>
            <a:endParaRPr lang="en-US" sz="3400" dirty="0"/>
          </a:p>
        </p:txBody>
      </p:sp>
      <p:sp>
        <p:nvSpPr>
          <p:cNvPr id="3" name="Normal form step"/>
          <p:cNvSpPr txBox="1"/>
          <p:nvPr/>
        </p:nvSpPr>
        <p:spPr>
          <a:xfrm>
            <a:off x="548640" y="1371600"/>
            <a:ext cx="2926080" cy="100584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UNF</a:t>
            </a:r>
            <a:endParaRPr lang="en-US" sz="2400" dirty="0"/>
          </a:p>
        </p:txBody>
      </p:sp>
      <p:sp>
        <p:nvSpPr>
          <p:cNvPr id="4" name="Normal form step"/>
          <p:cNvSpPr txBox="1"/>
          <p:nvPr/>
        </p:nvSpPr>
        <p:spPr>
          <a:xfrm>
            <a:off x="3337560" y="1371600"/>
            <a:ext cx="2926080" cy="100584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1NF</a:t>
            </a:r>
            <a:endParaRPr lang="en-US" sz="2400" dirty="0"/>
          </a:p>
        </p:txBody>
      </p:sp>
      <p:sp>
        <p:nvSpPr>
          <p:cNvPr id="5" name="Normal form step"/>
          <p:cNvSpPr txBox="1"/>
          <p:nvPr/>
        </p:nvSpPr>
        <p:spPr>
          <a:xfrm>
            <a:off x="6126480" y="1371600"/>
            <a:ext cx="2926080" cy="100584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2NF</a:t>
            </a:r>
            <a:endParaRPr lang="en-US" sz="2400" dirty="0"/>
          </a:p>
        </p:txBody>
      </p:sp>
      <p:sp>
        <p:nvSpPr>
          <p:cNvPr id="6" name="Normal form step"/>
          <p:cNvSpPr txBox="1"/>
          <p:nvPr/>
        </p:nvSpPr>
        <p:spPr>
          <a:xfrm>
            <a:off x="8915400" y="1371600"/>
            <a:ext cx="2926080" cy="1005840"/>
          </a:xfrm>
          <a:prstGeom prst="chevr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3NF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Normalization eliminated redundant data, improved consistency and ensured efficient data storage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final structure manages patients, appointments, admissions, wards, rooms, staff, treatments, medicines, prescriptions and billing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supports both outpatient and inpatient healthcare services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5212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Next step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6692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With the G14 database normalized, we can move to implementation or testing of the physical database.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ERD Phase: Planning and Crafting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Logical: we used Oracle Data Modeler to design the initial ERDs, both logical and relational.</a:t>
            </a:r>
            <a:endParaRPr lang="en-US" sz="1600" dirty="0"/>
          </a:p>
        </p:txBody>
      </p:sp>
      <p:pic>
        <p:nvPicPr>
          <p:cNvPr id="4" name="Image 0" descr="Logical E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10058400" cy="450638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ERD Phase: Relational</a:t>
            </a:r>
            <a:endParaRPr lang="en-US" sz="3400" dirty="0"/>
          </a:p>
        </p:txBody>
      </p:sp>
      <p:pic>
        <p:nvPicPr>
          <p:cNvPr id="3" name="Image 0" descr="Relational E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80160"/>
            <a:ext cx="9418320" cy="45402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Final ERD (with crow's foot notation)</a:t>
            </a:r>
            <a:endParaRPr lang="en-US" sz="3400" dirty="0"/>
          </a:p>
        </p:txBody>
      </p:sp>
      <p:pic>
        <p:nvPicPr>
          <p:cNvPr id="3" name="Image 0" descr="Final ERD with crow's foot not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280160"/>
            <a:ext cx="8595360" cy="49696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SQL Code: To Create the Tables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Tables, in creation order</a:t>
            </a:r>
            <a:endParaRPr lang="en-US" sz="1500" dirty="0"/>
          </a:p>
        </p:txBody>
      </p:sp>
      <p:sp>
        <p:nvSpPr>
          <p:cNvPr id="4" name="Table chip"/>
          <p:cNvSpPr/>
          <p:nvPr/>
        </p:nvSpPr>
        <p:spPr>
          <a:xfrm>
            <a:off x="548640" y="1783080"/>
            <a:ext cx="22860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PATIENTS</a:t>
            </a:r>
            <a:endParaRPr lang="en-US" sz="1400" dirty="0"/>
          </a:p>
        </p:txBody>
      </p:sp>
      <p:sp>
        <p:nvSpPr>
          <p:cNvPr id="6" name="Table chip"/>
          <p:cNvSpPr/>
          <p:nvPr/>
        </p:nvSpPr>
        <p:spPr>
          <a:xfrm>
            <a:off x="3017520" y="1783080"/>
            <a:ext cx="22860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17830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STAFF</a:t>
            </a:r>
            <a:endParaRPr lang="en-US" sz="1400" dirty="0"/>
          </a:p>
        </p:txBody>
      </p:sp>
      <p:sp>
        <p:nvSpPr>
          <p:cNvPr id="8" name="Table chip"/>
          <p:cNvSpPr/>
          <p:nvPr/>
        </p:nvSpPr>
        <p:spPr>
          <a:xfrm>
            <a:off x="548640" y="2606040"/>
            <a:ext cx="22860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WARD</a:t>
            </a:r>
            <a:endParaRPr lang="en-US" sz="1400" dirty="0"/>
          </a:p>
        </p:txBody>
      </p:sp>
      <p:sp>
        <p:nvSpPr>
          <p:cNvPr id="10" name="Table chip"/>
          <p:cNvSpPr/>
          <p:nvPr/>
        </p:nvSpPr>
        <p:spPr>
          <a:xfrm>
            <a:off x="3017520" y="2606040"/>
            <a:ext cx="22860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606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ROOMS</a:t>
            </a:r>
            <a:endParaRPr lang="en-US" sz="1400" dirty="0"/>
          </a:p>
        </p:txBody>
      </p:sp>
      <p:sp>
        <p:nvSpPr>
          <p:cNvPr id="12" name="Table chip"/>
          <p:cNvSpPr/>
          <p:nvPr/>
        </p:nvSpPr>
        <p:spPr>
          <a:xfrm>
            <a:off x="548640" y="3429000"/>
            <a:ext cx="22860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290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APPOINTMENTS</a:t>
            </a:r>
            <a:endParaRPr lang="en-US" sz="1400" dirty="0"/>
          </a:p>
        </p:txBody>
      </p:sp>
      <p:sp>
        <p:nvSpPr>
          <p:cNvPr id="14" name="Table chip"/>
          <p:cNvSpPr/>
          <p:nvPr/>
        </p:nvSpPr>
        <p:spPr>
          <a:xfrm>
            <a:off x="3017520" y="3429000"/>
            <a:ext cx="22860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4290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ADMISSIONS</a:t>
            </a:r>
            <a:endParaRPr lang="en-US" sz="1400" dirty="0"/>
          </a:p>
        </p:txBody>
      </p:sp>
      <p:sp>
        <p:nvSpPr>
          <p:cNvPr id="16" name="Table chip"/>
          <p:cNvSpPr/>
          <p:nvPr/>
        </p:nvSpPr>
        <p:spPr>
          <a:xfrm>
            <a:off x="548640" y="4251960"/>
            <a:ext cx="22860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51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TREATMENTS</a:t>
            </a:r>
            <a:endParaRPr lang="en-US" sz="1400" dirty="0"/>
          </a:p>
        </p:txBody>
      </p:sp>
      <p:sp>
        <p:nvSpPr>
          <p:cNvPr id="18" name="Table chip"/>
          <p:cNvSpPr/>
          <p:nvPr/>
        </p:nvSpPr>
        <p:spPr>
          <a:xfrm>
            <a:off x="3017520" y="4251960"/>
            <a:ext cx="22860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17520" y="4251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MEDICINES</a:t>
            </a:r>
            <a:endParaRPr lang="en-US" sz="1400" dirty="0"/>
          </a:p>
        </p:txBody>
      </p:sp>
      <p:sp>
        <p:nvSpPr>
          <p:cNvPr id="20" name="Table chip"/>
          <p:cNvSpPr/>
          <p:nvPr/>
        </p:nvSpPr>
        <p:spPr>
          <a:xfrm>
            <a:off x="548640" y="5074920"/>
            <a:ext cx="22860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0749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PRESCRIPTIONS</a:t>
            </a:r>
            <a:endParaRPr lang="en-US" sz="1400" dirty="0"/>
          </a:p>
        </p:txBody>
      </p:sp>
      <p:sp>
        <p:nvSpPr>
          <p:cNvPr id="22" name="Table chip"/>
          <p:cNvSpPr/>
          <p:nvPr/>
        </p:nvSpPr>
        <p:spPr>
          <a:xfrm>
            <a:off x="3017520" y="5074920"/>
            <a:ext cx="22860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17520" y="50749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BILLING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Example: PATIENTS</a:t>
            </a:r>
            <a:endParaRPr lang="en-US" sz="1500" dirty="0"/>
          </a:p>
        </p:txBody>
      </p:sp>
      <p:sp>
        <p:nvSpPr>
          <p:cNvPr id="25" name="Code box"/>
          <p:cNvSpPr/>
          <p:nvPr/>
        </p:nvSpPr>
        <p:spPr>
          <a:xfrm>
            <a:off x="6035040" y="1783080"/>
            <a:ext cx="5577840" cy="2670048"/>
          </a:xfrm>
          <a:prstGeom prst="roundRect">
            <a:avLst>
              <a:gd name="adj" fmla="val 27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1965960"/>
            <a:ext cx="51206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PATIENTS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patient_id   VARCHAR(10)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first_name   VARCHAR(50)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last_name    VARCHAR(50)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phone_number VARCHAR(10)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PATIENTS_PK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PRIMARY KEY (patient_id)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SQL Code: Keys and Check Constraints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ROOMS: foreign key and status check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548640" y="1783080"/>
            <a:ext cx="5486400" cy="3575304"/>
          </a:xfrm>
          <a:prstGeom prst="roundRect">
            <a:avLst>
              <a:gd name="adj" fmla="val 20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50292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ROOMS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room_id VARCHAR(10) NOT NULL,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room_number VARCHAR(15) NOT NULL,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ward_id VARCHAR(10) NOT NULL,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room_availability VARCHAR(50) NOT NULL,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ROOMS_PK PRIMARY KEY (room_id),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ROOMS_WARD_FK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FOREIGN KEY (ward_id)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WARD (ward_id),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ROOM_STATUS_CHK CHECK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room_availability 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('Available','Occupied'))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Check constraints</a:t>
            </a:r>
            <a:endParaRPr lang="en-US" sz="1500" dirty="0"/>
          </a:p>
        </p:txBody>
      </p:sp>
      <p:sp>
        <p:nvSpPr>
          <p:cNvPr id="7" name="Code box"/>
          <p:cNvSpPr/>
          <p:nvPr/>
        </p:nvSpPr>
        <p:spPr>
          <a:xfrm>
            <a:off x="6309360" y="1783080"/>
            <a:ext cx="5303520" cy="3040380"/>
          </a:xfrm>
          <a:prstGeom prst="roundRect">
            <a:avLst>
              <a:gd name="adj" fmla="val 24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965960"/>
            <a:ext cx="4846320" cy="276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STAFF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CONSTRAINT STAFF_TYPE_CHK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(staff_type 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('Doctor','Nurse',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'Receptionist','Administrator'));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BILLING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CONSTRAINT PAYMENT_STATUS_CHK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(payment_status 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('Paid','Pending','Overdue'));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SQL Code: To Insert Values into Tables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Sample statements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548640" y="1783080"/>
            <a:ext cx="6035040" cy="3575304"/>
          </a:xfrm>
          <a:prstGeom prst="roundRect">
            <a:avLst>
              <a:gd name="adj" fmla="val 20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55778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PATIENTS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('P001','JOHN','DOE','0720017896');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WARD VALUES ('W01','General');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ROOMS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('R01','101','W01','Occupied');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APPOINTMENTS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('A001','P001',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TO_DATE('01-04-2026','DD-MM-YYYY'),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'08:00','Completed');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Sample data loaded</a:t>
            </a:r>
            <a:endParaRPr lang="en-US" sz="1500" dirty="0"/>
          </a:p>
        </p:txBody>
      </p:sp>
      <p:graphicFrame>
        <p:nvGraphicFramePr>
          <p:cNvPr id="3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83080"/>
          <a:ext cx="46634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4592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Rows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PATIENTS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WARD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ROOMS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APPOINTMENTS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ADMISSIONS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MEDICINES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PRESCRIPTIONS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BILLING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Total Number of Registered Patients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SQL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548640" y="1737360"/>
            <a:ext cx="5486400" cy="982980"/>
          </a:xfrm>
          <a:prstGeom prst="roundRect">
            <a:avLst>
              <a:gd name="adj" fmla="val 74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total_patients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 (Oracle Live SQL)</a:t>
            </a:r>
            <a:endParaRPr lang="en-US" sz="1500" dirty="0"/>
          </a:p>
        </p:txBody>
      </p:sp>
      <p:graphicFrame>
        <p:nvGraphicFramePr>
          <p:cNvPr id="3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521208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TOTAL_PATIENTS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Available Rooms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SQL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548640" y="1737360"/>
            <a:ext cx="5486400" cy="1291590"/>
          </a:xfrm>
          <a:prstGeom prst="roundRect">
            <a:avLst>
              <a:gd name="adj" fmla="val 56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room_id, room_number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ROOMS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room_availability = 'Available';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 (Oracle Live SQL)</a:t>
            </a:r>
            <a:endParaRPr lang="en-US" sz="1500" dirty="0"/>
          </a:p>
        </p:txBody>
      </p:sp>
      <p:graphicFrame>
        <p:nvGraphicFramePr>
          <p:cNvPr id="3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ROOM_ID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ROOM_NUMBER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R03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102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R05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202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Patients Currently Admitted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SQL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548640" y="1737360"/>
            <a:ext cx="5486400" cy="2526030"/>
          </a:xfrm>
          <a:prstGeom prst="roundRect">
            <a:avLst>
              <a:gd name="adj" fmla="val 28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2251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p.patient_id,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p.first_name,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p.last_name,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a.room_id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 p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ADMISSIONS 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p.patient_id = a.patient_id;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 (Oracle Live SQL)</a:t>
            </a:r>
            <a:endParaRPr lang="en-US" sz="1500" dirty="0"/>
          </a:p>
        </p:txBody>
      </p:sp>
      <p:graphicFrame>
        <p:nvGraphicFramePr>
          <p:cNvPr id="3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371600"/>
                <a:gridCol w="118872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PATIENT_ID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FIRST_NAME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LAST_NAME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ROOM_ID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P001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JOHN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R01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P002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JANE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R02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P005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WILL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FOSTER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R04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Number of Admissions per Ward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SQL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548640" y="1737360"/>
            <a:ext cx="5486400" cy="2526030"/>
          </a:xfrm>
          <a:prstGeom prst="roundRect">
            <a:avLst>
              <a:gd name="adj" fmla="val 28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2251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w.ward_name,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COUNT(a.admission_id) total_admissions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WARD w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ROOMS r ON w.ward_id = r.ward_id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ADMISSIONS 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r.room_id = a.room_id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w.ward_name;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 (Oracle Live SQL)</a:t>
            </a:r>
            <a:endParaRPr lang="en-US" sz="1500" dirty="0"/>
          </a:p>
        </p:txBody>
      </p:sp>
      <p:graphicFrame>
        <p:nvGraphicFramePr>
          <p:cNvPr id="3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WARD_NAME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TOTAL_ADMISSIONS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General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Surgical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ICU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Treatments Performed by Each Staff Member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SQL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548640" y="1737360"/>
            <a:ext cx="5486400" cy="2526030"/>
          </a:xfrm>
          <a:prstGeom prst="roundRect">
            <a:avLst>
              <a:gd name="adj" fmla="val 28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2251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s.staff_id,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s.initials,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COUNT(t.treatment_id) treatments_done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STAFF 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TREATMENTS 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s.staff_id = t.staff_id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s.staff_id, s.initials;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 (Oracle Live SQL)</a:t>
            </a:r>
            <a:endParaRPr lang="en-US" sz="1500" dirty="0"/>
          </a:p>
        </p:txBody>
      </p:sp>
      <p:graphicFrame>
        <p:nvGraphicFramePr>
          <p:cNvPr id="3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201168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STAFF_ID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INITIALS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TREATMENTS_DONE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SD001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DR N NAIDOO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SN002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MN.SMITH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SR001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L.HOLLY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SD002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DR.L.SMITH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SA001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N.MOKOENA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SN001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L.MAHLANGU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SN003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G.OLESENG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SA002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K.NAUME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Most Prescribed Medicine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SQL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548640" y="1737360"/>
            <a:ext cx="5486400" cy="2526030"/>
          </a:xfrm>
          <a:prstGeom prst="roundRect">
            <a:avLst>
              <a:gd name="adj" fmla="val 28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2251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m.medicine_name,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times_prescribed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MEDICINES 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PRESCRIPTIONS p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m.medicine_id = p.medicine_id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m.medicine_name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times_prescribed DESC;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 (Oracle Live SQL)</a:t>
            </a:r>
            <a:endParaRPr lang="en-US" sz="1500" dirty="0"/>
          </a:p>
        </p:txBody>
      </p:sp>
      <p:graphicFrame>
        <p:nvGraphicFramePr>
          <p:cNvPr id="3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MEDICINE_NAME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TIMES_PRESCRIBED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Aspirin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Amoxicillin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Metformin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Amlodipine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Paracetamol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Medicines with Low Stock (stock under 100)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SQL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548640" y="1737360"/>
            <a:ext cx="5486400" cy="1908810"/>
          </a:xfrm>
          <a:prstGeom prst="roundRect">
            <a:avLst>
              <a:gd name="adj" fmla="val 38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163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medicine_id,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medicine_name,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stock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MEDICINES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stock &lt; 100;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 (Oracle Live SQL)</a:t>
            </a:r>
            <a:endParaRPr lang="en-US" sz="1500" dirty="0"/>
          </a:p>
        </p:txBody>
      </p:sp>
      <p:graphicFrame>
        <p:nvGraphicFramePr>
          <p:cNvPr id="3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146304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MEDICINE_ID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MEDICINE_NAME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STOCK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M006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Panado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M007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Grandpa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M008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Benelin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Total Revenue Generated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SQL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548640" y="1737360"/>
            <a:ext cx="5486400" cy="1291590"/>
          </a:xfrm>
          <a:prstGeom prst="roundRect">
            <a:avLst>
              <a:gd name="adj" fmla="val 56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SUM(amount) AS total_revenue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BILLING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payment_status = 'Paid';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 (Oracle Live SQL)</a:t>
            </a:r>
            <a:endParaRPr lang="en-US" sz="1500" dirty="0"/>
          </a:p>
        </p:txBody>
      </p:sp>
      <p:graphicFrame>
        <p:nvGraphicFramePr>
          <p:cNvPr id="4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521208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TOTAL_REVENUE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6500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Overdue Bills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SQL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548640" y="1737360"/>
            <a:ext cx="5486400" cy="1291590"/>
          </a:xfrm>
          <a:prstGeom prst="roundRect">
            <a:avLst>
              <a:gd name="adj" fmla="val 56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BILLING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payment_status = 'Overdue';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 (Oracle Live SQL)</a:t>
            </a:r>
            <a:endParaRPr lang="en-US" sz="1500" dirty="0"/>
          </a:p>
        </p:txBody>
      </p:sp>
      <p:graphicFrame>
        <p:nvGraphicFramePr>
          <p:cNvPr id="4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097280"/>
                <a:gridCol w="173736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BILL_ID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PATIENT_ID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PAYMENT_STATUS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B007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P008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1250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Overdue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Grouping Appointments by Status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SQL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548640" y="1737360"/>
            <a:ext cx="548640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appointment_status,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total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APPOINTMENTS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appointment_status;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 (Oracle Live SQL)</a:t>
            </a:r>
            <a:endParaRPr lang="en-US" sz="1500" dirty="0"/>
          </a:p>
        </p:txBody>
      </p:sp>
      <p:graphicFrame>
        <p:nvGraphicFramePr>
          <p:cNvPr id="4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82880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APPOINTMENT_STATUS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Scheduled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Cancelled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66160" cy="484632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1089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Manual flat-file record keeping caused data duplication, slow data retrieval, poor organisation and data integrity problems.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297680" y="1371600"/>
            <a:ext cx="3566160" cy="484632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solution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011680"/>
            <a:ext cx="31089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relational database designed in Third Normal Form (3NF), modelled with an ERD and implemented in SQL.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8046720" y="1371600"/>
            <a:ext cx="3566160" cy="484632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The result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011680"/>
            <a:ext cx="31089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Sample queries produced meaningful reports: registered patients, room availability, admissions, treatments, medicine stock, billing and revenue.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Conclusion: What G14 Gains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database offers G14 Healthcare Facility a robust system for handling healthcare records in a unified, secure and efficient way.</a:t>
            </a:r>
            <a:endParaRPr lang="en-US" sz="1800" dirty="0"/>
          </a:p>
        </p:txBody>
      </p:sp>
      <p:sp>
        <p:nvSpPr>
          <p:cNvPr id="4" name="Benefit card"/>
          <p:cNvSpPr/>
          <p:nvPr/>
        </p:nvSpPr>
        <p:spPr>
          <a:xfrm>
            <a:off x="548640" y="2377440"/>
            <a:ext cx="3566160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603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Improved data integrity</a:t>
            </a:r>
            <a:endParaRPr lang="en-US" sz="1900" dirty="0"/>
          </a:p>
        </p:txBody>
      </p:sp>
      <p:sp>
        <p:nvSpPr>
          <p:cNvPr id="6" name="Benefit card"/>
          <p:cNvSpPr/>
          <p:nvPr/>
        </p:nvSpPr>
        <p:spPr>
          <a:xfrm>
            <a:off x="4297680" y="2377440"/>
            <a:ext cx="3566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25603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Minimized data redundancy</a:t>
            </a:r>
            <a:endParaRPr lang="en-US" sz="1900" dirty="0"/>
          </a:p>
        </p:txBody>
      </p:sp>
      <p:sp>
        <p:nvSpPr>
          <p:cNvPr id="8" name="Benefit card"/>
          <p:cNvSpPr/>
          <p:nvPr/>
        </p:nvSpPr>
        <p:spPr>
          <a:xfrm>
            <a:off x="8046720" y="2377440"/>
            <a:ext cx="3566160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1040" y="25603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Quick access to information and reporting</a:t>
            </a:r>
            <a:endParaRPr lang="en-US" sz="1900" dirty="0"/>
          </a:p>
        </p:txBody>
      </p:sp>
      <p:sp>
        <p:nvSpPr>
          <p:cNvPr id="10" name="Benefit card"/>
          <p:cNvSpPr/>
          <p:nvPr/>
        </p:nvSpPr>
        <p:spPr>
          <a:xfrm>
            <a:off x="548640" y="4297680"/>
            <a:ext cx="3566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4805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Smoother administrative processes</a:t>
            </a:r>
            <a:endParaRPr lang="en-US" sz="1900" dirty="0"/>
          </a:p>
        </p:txBody>
      </p:sp>
      <p:sp>
        <p:nvSpPr>
          <p:cNvPr id="12" name="Benefit card"/>
          <p:cNvSpPr/>
          <p:nvPr/>
        </p:nvSpPr>
        <p:spPr>
          <a:xfrm>
            <a:off x="4297680" y="4297680"/>
            <a:ext cx="3566160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44805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A foundation for future expansion</a:t>
            </a:r>
            <a:endParaRPr lang="en-US" sz="1900" dirty="0"/>
          </a:p>
        </p:txBody>
      </p:sp>
      <p:sp>
        <p:nvSpPr>
          <p:cNvPr id="14" name="Benefit card"/>
          <p:cNvSpPr/>
          <p:nvPr/>
        </p:nvSpPr>
        <p:spPr>
          <a:xfrm>
            <a:off x="8046720" y="4297680"/>
            <a:ext cx="3566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44805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Support for both outpatient and inpatient services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5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611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Questions?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Group 14  |  G14 Hospital Database Management System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940" y="2548890"/>
            <a:ext cx="5052060" cy="50520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14 Healthcare">
  <a:themeElements>
    <a:clrScheme name="G14 Healthcare">
      <a:dk1>
        <a:srgbClr val="1F2D33"/>
      </a:dk1>
      <a:lt1>
        <a:srgbClr val="FFFFFF"/>
      </a:lt1>
      <a:dk2>
        <a:srgbClr val="0B3C49"/>
      </a:dk2>
      <a:lt2>
        <a:srgbClr val="EAF4F4"/>
      </a:lt2>
      <a:accent1>
        <a:srgbClr val="0E7C86"/>
      </a:accent1>
      <a:accent2>
        <a:srgbClr val="2BB3A3"/>
      </a:accent2>
      <a:accent3>
        <a:srgbClr val="E76F51"/>
      </a:accent3>
      <a:accent4>
        <a:srgbClr val="F4A261"/>
      </a:accent4>
      <a:accent5>
        <a:srgbClr val="264653"/>
      </a:accent5>
      <a:accent6>
        <a:srgbClr val="8AB6B9"/>
      </a:accent6>
      <a:hlink>
        <a:srgbClr val="0E7C86"/>
      </a:hlink>
      <a:folHlink>
        <a:srgbClr val="6B7F86"/>
      </a:folHlink>
    </a:clrScheme>
    <a:fontScheme name="G14 Healthca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2872</Words>
  <Application>Microsoft Office PowerPoint</Application>
  <PresentationFormat>Widescreen</PresentationFormat>
  <Paragraphs>915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Cambria</vt:lpstr>
      <vt:lpstr>Courier New</vt:lpstr>
      <vt:lpstr>G14 Healthcare</vt:lpstr>
      <vt:lpstr>G14 Hospital Database Management System</vt:lpstr>
      <vt:lpstr>Group 14</vt:lpstr>
      <vt:lpstr>Agenda</vt:lpstr>
      <vt:lpstr>The Scenario</vt:lpstr>
      <vt:lpstr>Introduction</vt:lpstr>
      <vt:lpstr>Introduction: Key Problems Identified</vt:lpstr>
      <vt:lpstr>The Solution</vt:lpstr>
      <vt:lpstr>The Solution: How It Works</vt:lpstr>
      <vt:lpstr>Business Rules</vt:lpstr>
      <vt:lpstr>Patient and Staff Rules</vt:lpstr>
      <vt:lpstr>Appointment and Admission Rules</vt:lpstr>
      <vt:lpstr>Ward and Room Rules</vt:lpstr>
      <vt:lpstr>Treatment and Medicine Rules</vt:lpstr>
      <vt:lpstr>Prescription and Billing Rules</vt:lpstr>
      <vt:lpstr>Relationship and Cardinality Summary</vt:lpstr>
      <vt:lpstr>Database Normalization: Introduction</vt:lpstr>
      <vt:lpstr>Unnormalized Form (UNF)</vt:lpstr>
      <vt:lpstr>First Normal Form (1NF)</vt:lpstr>
      <vt:lpstr>1NF: Treatment, Medicine, Prescription</vt:lpstr>
      <vt:lpstr>Second Normal Form (2NF)</vt:lpstr>
      <vt:lpstr>Second Normal Form (2NF): Improvements</vt:lpstr>
      <vt:lpstr>Third Normal Form (3NF)</vt:lpstr>
      <vt:lpstr>Final 3NF Relations</vt:lpstr>
      <vt:lpstr>The Resulting ERD</vt:lpstr>
      <vt:lpstr>Database Normalization: Summary</vt:lpstr>
      <vt:lpstr>ERD Phase: Planning and Crafting</vt:lpstr>
      <vt:lpstr>ERD Phase: Relational</vt:lpstr>
      <vt:lpstr>Final ERD (with crow's foot notation)</vt:lpstr>
      <vt:lpstr>SQL Code: To Create the Tables</vt:lpstr>
      <vt:lpstr>SQL Code: Keys and Check Constraints</vt:lpstr>
      <vt:lpstr>SQL Code: To Insert Values into Tables</vt:lpstr>
      <vt:lpstr>Total Number of Registered Patients</vt:lpstr>
      <vt:lpstr>Available Rooms</vt:lpstr>
      <vt:lpstr>Patients Currently Admitted</vt:lpstr>
      <vt:lpstr>Number of Admissions per Ward</vt:lpstr>
      <vt:lpstr>Treatments Performed by Each Staff Member</vt:lpstr>
      <vt:lpstr>Most Prescribed Medicine</vt:lpstr>
      <vt:lpstr>Medicines with Low Stock (stock under 100)</vt:lpstr>
      <vt:lpstr>Total Revenue Generated</vt:lpstr>
      <vt:lpstr>Overdue Bills</vt:lpstr>
      <vt:lpstr>Grouping Appointments by Status</vt:lpstr>
      <vt:lpstr>Conclusion</vt:lpstr>
      <vt:lpstr>Conclusion: What G14 Gains</vt:lpstr>
      <vt:lpstr>Thank you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G14 Hospital Database Management System</dc:title>
  <dc:subject>PptxGenJS Presentation</dc:subject>
  <dc:creator>Group 14</dc:creator>
  <cp:lastModifiedBy>Microsoft account</cp:lastModifiedBy>
  <cp:revision>3</cp:revision>
  <dcterms:created xsi:type="dcterms:W3CDTF">2026-10-31T13:11:43Z</dcterms:created>
  <dcterms:modified xsi:type="dcterms:W3CDTF">2026-10-31T13:52:48Z</dcterms:modified>
</cp:coreProperties>
</file>